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2088" cy="533095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5330952"/>
          </a:xfrm>
          <a:prstGeom prst="rect">
            <a:avLst/>
          </a:prstGeom>
          <a:solidFill>
            <a:srgbClr val="FAF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9184" y="182880"/>
            <a:ext cx="2697480" cy="237744"/>
          </a:xfrm>
          <a:prstGeom prst="rect">
            <a:avLst/>
          </a:prstGeom>
          <a:noFill/>
        </p:spPr>
        <p:txBody>
          <a:bodyPr wrap="square">
            <a:spAutoFit/>
          </a:bodyPr>
          <a:lstStyle/>
          <a:p>
            <a:pPr algn="l"/>
            <a:r>
              <a:rPr sz="1850" b="1" i="0">
                <a:solidFill>
                  <a:srgbClr val="125637"/>
                </a:solidFill>
                <a:latin typeface="Arial"/>
              </a:rPr>
              <a:t>CUIDEMOS
GALÁPAGOS</a:t>
            </a:r>
          </a:p>
        </p:txBody>
      </p:sp>
      <p:sp>
        <p:nvSpPr>
          <p:cNvPr id="4" name="TextBox 3"/>
          <p:cNvSpPr txBox="1"/>
          <p:nvPr/>
        </p:nvSpPr>
        <p:spPr>
          <a:xfrm>
            <a:off x="329184" y="457200"/>
            <a:ext cx="2743200" cy="146304"/>
          </a:xfrm>
          <a:prstGeom prst="rect">
            <a:avLst/>
          </a:prstGeom>
          <a:noFill/>
        </p:spPr>
        <p:txBody>
          <a:bodyPr wrap="square">
            <a:spAutoFit/>
          </a:bodyPr>
          <a:lstStyle/>
          <a:p>
            <a:pPr algn="l"/>
            <a:r>
              <a:rPr sz="890" b="1" i="0">
                <a:solidFill>
                  <a:srgbClr val="9A651C"/>
                </a:solidFill>
                <a:latin typeface="Arial"/>
              </a:rPr>
              <a:t>PEQUEÑAS ACCIONES, GRAN IMPACTO</a:t>
            </a:r>
          </a:p>
        </p:txBody>
      </p:sp>
      <p:sp>
        <p:nvSpPr>
          <p:cNvPr id="5" name="TextBox 4"/>
          <p:cNvSpPr txBox="1"/>
          <p:nvPr/>
        </p:nvSpPr>
        <p:spPr>
          <a:xfrm>
            <a:off x="3310128" y="182880"/>
            <a:ext cx="2834640" cy="237744"/>
          </a:xfrm>
          <a:prstGeom prst="rect">
            <a:avLst/>
          </a:prstGeom>
          <a:noFill/>
        </p:spPr>
        <p:txBody>
          <a:bodyPr wrap="square">
            <a:spAutoFit/>
          </a:bodyPr>
          <a:lstStyle/>
          <a:p>
            <a:pPr algn="l"/>
            <a:r>
              <a:rPr sz="1850" b="1" i="0">
                <a:solidFill>
                  <a:srgbClr val="125637"/>
                </a:solidFill>
                <a:latin typeface="Arial"/>
              </a:rPr>
              <a:t>LET’S PROTECT
GALÁPAGOS</a:t>
            </a:r>
          </a:p>
        </p:txBody>
      </p:sp>
      <p:sp>
        <p:nvSpPr>
          <p:cNvPr id="6" name="TextBox 5"/>
          <p:cNvSpPr txBox="1"/>
          <p:nvPr/>
        </p:nvSpPr>
        <p:spPr>
          <a:xfrm>
            <a:off x="3310128" y="457200"/>
            <a:ext cx="2743200" cy="146304"/>
          </a:xfrm>
          <a:prstGeom prst="rect">
            <a:avLst/>
          </a:prstGeom>
          <a:noFill/>
        </p:spPr>
        <p:txBody>
          <a:bodyPr wrap="square">
            <a:spAutoFit/>
          </a:bodyPr>
          <a:lstStyle/>
          <a:p>
            <a:pPr algn="l"/>
            <a:r>
              <a:rPr sz="890" b="1" i="0">
                <a:solidFill>
                  <a:srgbClr val="9A651C"/>
                </a:solidFill>
                <a:latin typeface="Arial"/>
              </a:rPr>
              <a:t>SMALL ACTIONS, BIG IMPACT</a:t>
            </a:r>
          </a:p>
        </p:txBody>
      </p:sp>
      <p:sp>
        <p:nvSpPr>
          <p:cNvPr id="7" name="Rectangle 6"/>
          <p:cNvSpPr/>
          <p:nvPr/>
        </p:nvSpPr>
        <p:spPr>
          <a:xfrm>
            <a:off x="3044952" y="210312"/>
            <a:ext cx="7315" cy="301752"/>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108960" y="274320"/>
            <a:ext cx="82296" cy="82296"/>
          </a:xfrm>
          <a:prstGeom prst="ellipse">
            <a:avLst/>
          </a:prstGeom>
          <a:solidFill>
            <a:srgbClr val="125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64592" y="868680"/>
            <a:ext cx="1810512" cy="3749039"/>
          </a:xfrm>
          <a:prstGeom prst="roundRect">
            <a:avLst/>
          </a:prstGeom>
          <a:solidFill>
            <a:srgbClr val="FFFFFF"/>
          </a:solidFill>
          <a:ln w="10160">
            <a:solidFill>
              <a:srgbClr val="E4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64592" y="868680"/>
            <a:ext cx="1810512" cy="749808"/>
          </a:xfrm>
          <a:prstGeom prst="roundRect">
            <a:avLst/>
          </a:prstGeom>
          <a:solidFill>
            <a:srgbClr val="165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64592" y="1527048"/>
            <a:ext cx="1810512" cy="109728"/>
          </a:xfrm>
          <a:prstGeom prst="rect">
            <a:avLst/>
          </a:prstGeom>
          <a:solidFill>
            <a:srgbClr val="165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886968"/>
            <a:ext cx="566928" cy="566928"/>
          </a:xfrm>
          <a:prstGeom prst="ellipse">
            <a:avLst/>
          </a:prstGeom>
          <a:solidFill>
            <a:srgbClr val="FFFFFF"/>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ater.png"/>
          <p:cNvPicPr>
            <a:picLocks noChangeAspect="1"/>
          </p:cNvPicPr>
          <p:nvPr/>
        </p:nvPicPr>
        <p:blipFill>
          <a:blip r:embed="rId2"/>
          <a:stretch>
            <a:fillRect/>
          </a:stretch>
        </p:blipFill>
        <p:spPr>
          <a:xfrm>
            <a:off x="832104" y="932688"/>
            <a:ext cx="475488" cy="475488"/>
          </a:xfrm>
          <a:prstGeom prst="rect">
            <a:avLst/>
          </a:prstGeom>
        </p:spPr>
      </p:pic>
      <p:sp>
        <p:nvSpPr>
          <p:cNvPr id="14" name="TextBox 13"/>
          <p:cNvSpPr txBox="1"/>
          <p:nvPr/>
        </p:nvSpPr>
        <p:spPr>
          <a:xfrm>
            <a:off x="256032" y="1645920"/>
            <a:ext cx="1627632" cy="146304"/>
          </a:xfrm>
          <a:prstGeom prst="rect">
            <a:avLst/>
          </a:prstGeom>
          <a:noFill/>
        </p:spPr>
        <p:txBody>
          <a:bodyPr wrap="square">
            <a:spAutoFit/>
          </a:bodyPr>
          <a:lstStyle/>
          <a:p>
            <a:pPr algn="ctr"/>
            <a:r>
              <a:rPr sz="1320" b="1" i="0">
                <a:solidFill>
                  <a:srgbClr val="165992"/>
                </a:solidFill>
                <a:latin typeface="Arial"/>
              </a:rPr>
              <a:t>AGUA</a:t>
            </a:r>
          </a:p>
        </p:txBody>
      </p:sp>
      <p:sp>
        <p:nvSpPr>
          <p:cNvPr id="15" name="Rectangle 14"/>
          <p:cNvSpPr/>
          <p:nvPr/>
        </p:nvSpPr>
        <p:spPr>
          <a:xfrm>
            <a:off x="512064" y="1810512"/>
            <a:ext cx="1115568" cy="7315"/>
          </a:xfrm>
          <a:prstGeom prst="rect">
            <a:avLst/>
          </a:prstGeom>
          <a:solidFill>
            <a:srgbClr val="165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1865376"/>
            <a:ext cx="1591056" cy="128016"/>
          </a:xfrm>
          <a:prstGeom prst="rect">
            <a:avLst/>
          </a:prstGeom>
          <a:noFill/>
        </p:spPr>
        <p:txBody>
          <a:bodyPr wrap="square">
            <a:spAutoFit/>
          </a:bodyPr>
          <a:lstStyle/>
          <a:p>
            <a:pPr algn="ctr"/>
            <a:r>
              <a:rPr sz="910" b="1" i="0">
                <a:solidFill>
                  <a:srgbClr val="1D252C"/>
                </a:solidFill>
                <a:latin typeface="Arial"/>
              </a:rPr>
              <a:t>ÚSALA CON CONCIENCIA</a:t>
            </a:r>
          </a:p>
        </p:txBody>
      </p:sp>
      <p:sp>
        <p:nvSpPr>
          <p:cNvPr id="17" name="TextBox 16"/>
          <p:cNvSpPr txBox="1"/>
          <p:nvPr/>
        </p:nvSpPr>
        <p:spPr>
          <a:xfrm>
            <a:off x="301752" y="2029968"/>
            <a:ext cx="1536192" cy="914400"/>
          </a:xfrm>
          <a:prstGeom prst="rect">
            <a:avLst/>
          </a:prstGeom>
          <a:noFill/>
        </p:spPr>
        <p:txBody>
          <a:bodyPr wrap="square">
            <a:spAutoFit/>
          </a:bodyPr>
          <a:lstStyle/>
          <a:p>
            <a:pPr algn="ctr"/>
            <a:r>
              <a:rPr sz="785" b="0" i="0">
                <a:solidFill>
                  <a:srgbClr val="1D252C"/>
                </a:solidFill>
                <a:latin typeface="Arial"/>
              </a:rPr>
              <a:t>En Galápagos el agua potable es limitada.
Te pedimos tomar duchas breves, cerrar bien
las llaves y reutilizar tus toallas cuando sea
posible. Tu colaboración ayuda a proteger
un recurso esencial para todos.</a:t>
            </a:r>
          </a:p>
        </p:txBody>
      </p:sp>
      <p:sp>
        <p:nvSpPr>
          <p:cNvPr id="18" name="Rectangle 17"/>
          <p:cNvSpPr/>
          <p:nvPr/>
        </p:nvSpPr>
        <p:spPr>
          <a:xfrm>
            <a:off x="365760" y="3044952"/>
            <a:ext cx="475488" cy="7315"/>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98448" y="3044952"/>
            <a:ext cx="475488" cy="7315"/>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9732" y="3024836"/>
            <a:ext cx="40233" cy="40233"/>
          </a:xfrm>
          <a:prstGeom prst="ellipse">
            <a:avLst/>
          </a:prstGeom>
          <a:solidFill>
            <a:srgbClr val="165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3090672"/>
            <a:ext cx="1627632" cy="146304"/>
          </a:xfrm>
          <a:prstGeom prst="rect">
            <a:avLst/>
          </a:prstGeom>
          <a:noFill/>
        </p:spPr>
        <p:txBody>
          <a:bodyPr wrap="square">
            <a:spAutoFit/>
          </a:bodyPr>
          <a:lstStyle/>
          <a:p>
            <a:pPr algn="ctr"/>
            <a:r>
              <a:rPr sz="1170" b="1" i="0">
                <a:solidFill>
                  <a:srgbClr val="165992"/>
                </a:solidFill>
                <a:latin typeface="Arial"/>
              </a:rPr>
              <a:t>WATER</a:t>
            </a:r>
          </a:p>
        </p:txBody>
      </p:sp>
      <p:sp>
        <p:nvSpPr>
          <p:cNvPr id="22" name="Rectangle 21"/>
          <p:cNvSpPr/>
          <p:nvPr/>
        </p:nvSpPr>
        <p:spPr>
          <a:xfrm>
            <a:off x="512064" y="3218688"/>
            <a:ext cx="1115568" cy="7315"/>
          </a:xfrm>
          <a:prstGeom prst="rect">
            <a:avLst/>
          </a:prstGeom>
          <a:solidFill>
            <a:srgbClr val="1659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264408"/>
            <a:ext cx="1591056" cy="128016"/>
          </a:xfrm>
          <a:prstGeom prst="rect">
            <a:avLst/>
          </a:prstGeom>
          <a:noFill/>
        </p:spPr>
        <p:txBody>
          <a:bodyPr wrap="square">
            <a:spAutoFit/>
          </a:bodyPr>
          <a:lstStyle/>
          <a:p>
            <a:pPr algn="ctr"/>
            <a:r>
              <a:rPr sz="830" b="1" i="0">
                <a:solidFill>
                  <a:srgbClr val="1D252C"/>
                </a:solidFill>
                <a:latin typeface="Arial"/>
              </a:rPr>
              <a:t>USE IT CONSCIOUSLY</a:t>
            </a:r>
          </a:p>
        </p:txBody>
      </p:sp>
      <p:sp>
        <p:nvSpPr>
          <p:cNvPr id="24" name="TextBox 23"/>
          <p:cNvSpPr txBox="1"/>
          <p:nvPr/>
        </p:nvSpPr>
        <p:spPr>
          <a:xfrm>
            <a:off x="301752" y="3419856"/>
            <a:ext cx="1536192" cy="777240"/>
          </a:xfrm>
          <a:prstGeom prst="rect">
            <a:avLst/>
          </a:prstGeom>
          <a:noFill/>
        </p:spPr>
        <p:txBody>
          <a:bodyPr wrap="square">
            <a:spAutoFit/>
          </a:bodyPr>
          <a:lstStyle/>
          <a:p>
            <a:pPr algn="ctr"/>
            <a:r>
              <a:rPr sz="700" b="0" i="0">
                <a:solidFill>
                  <a:srgbClr val="1D252C"/>
                </a:solidFill>
                <a:latin typeface="Arial"/>
              </a:rPr>
              <a:t>Fresh water in Galápagos is limited.
We kindly ask you to take short showers,
turn off the taps properly and reuse your
towels whenever possible. Your cooperation
helps protect an essential resource for
everyone.</a:t>
            </a:r>
          </a:p>
        </p:txBody>
      </p:sp>
      <p:sp>
        <p:nvSpPr>
          <p:cNvPr id="25" name="Rounded Rectangle 24"/>
          <p:cNvSpPr/>
          <p:nvPr/>
        </p:nvSpPr>
        <p:spPr>
          <a:xfrm>
            <a:off x="2048256" y="868680"/>
            <a:ext cx="1810512" cy="3749039"/>
          </a:xfrm>
          <a:prstGeom prst="roundRect">
            <a:avLst/>
          </a:prstGeom>
          <a:solidFill>
            <a:srgbClr val="FFFFFF"/>
          </a:solidFill>
          <a:ln w="10160">
            <a:solidFill>
              <a:srgbClr val="E4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048256" y="868680"/>
            <a:ext cx="1810512" cy="749808"/>
          </a:xfrm>
          <a:prstGeom prst="roundRect">
            <a:avLst/>
          </a:prstGeom>
          <a:solidFill>
            <a:srgbClr val="9A65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48256" y="1527048"/>
            <a:ext cx="1810512" cy="109728"/>
          </a:xfrm>
          <a:prstGeom prst="rect">
            <a:avLst/>
          </a:prstGeom>
          <a:solidFill>
            <a:srgbClr val="9A65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670048" y="886968"/>
            <a:ext cx="566928" cy="566928"/>
          </a:xfrm>
          <a:prstGeom prst="ellipse">
            <a:avLst/>
          </a:prstGeom>
          <a:solidFill>
            <a:srgbClr val="FFFFFF"/>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energy.png"/>
          <p:cNvPicPr>
            <a:picLocks noChangeAspect="1"/>
          </p:cNvPicPr>
          <p:nvPr/>
        </p:nvPicPr>
        <p:blipFill>
          <a:blip r:embed="rId3"/>
          <a:stretch>
            <a:fillRect/>
          </a:stretch>
        </p:blipFill>
        <p:spPr>
          <a:xfrm>
            <a:off x="2715768" y="932688"/>
            <a:ext cx="475488" cy="475488"/>
          </a:xfrm>
          <a:prstGeom prst="rect">
            <a:avLst/>
          </a:prstGeom>
        </p:spPr>
      </p:pic>
      <p:sp>
        <p:nvSpPr>
          <p:cNvPr id="30" name="TextBox 29"/>
          <p:cNvSpPr txBox="1"/>
          <p:nvPr/>
        </p:nvSpPr>
        <p:spPr>
          <a:xfrm>
            <a:off x="2139696" y="1645920"/>
            <a:ext cx="1627632" cy="146304"/>
          </a:xfrm>
          <a:prstGeom prst="rect">
            <a:avLst/>
          </a:prstGeom>
          <a:noFill/>
        </p:spPr>
        <p:txBody>
          <a:bodyPr wrap="square">
            <a:spAutoFit/>
          </a:bodyPr>
          <a:lstStyle/>
          <a:p>
            <a:pPr algn="ctr"/>
            <a:r>
              <a:rPr sz="1320" b="1" i="0">
                <a:solidFill>
                  <a:srgbClr val="9A651C"/>
                </a:solidFill>
                <a:latin typeface="Arial"/>
              </a:rPr>
              <a:t>ENERGÍA</a:t>
            </a:r>
          </a:p>
        </p:txBody>
      </p:sp>
      <p:sp>
        <p:nvSpPr>
          <p:cNvPr id="31" name="Rectangle 30"/>
          <p:cNvSpPr/>
          <p:nvPr/>
        </p:nvSpPr>
        <p:spPr>
          <a:xfrm>
            <a:off x="2395728" y="1810512"/>
            <a:ext cx="1115568" cy="7315"/>
          </a:xfrm>
          <a:prstGeom prst="rect">
            <a:avLst/>
          </a:prstGeom>
          <a:solidFill>
            <a:srgbClr val="9A65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57984" y="1865376"/>
            <a:ext cx="1591056" cy="128016"/>
          </a:xfrm>
          <a:prstGeom prst="rect">
            <a:avLst/>
          </a:prstGeom>
          <a:noFill/>
        </p:spPr>
        <p:txBody>
          <a:bodyPr wrap="square">
            <a:spAutoFit/>
          </a:bodyPr>
          <a:lstStyle/>
          <a:p>
            <a:pPr algn="ctr"/>
            <a:r>
              <a:rPr sz="910" b="1" i="0">
                <a:solidFill>
                  <a:srgbClr val="1D252C"/>
                </a:solidFill>
                <a:latin typeface="Arial"/>
              </a:rPr>
              <a:t>APAGA PARA CONSERVAR</a:t>
            </a:r>
          </a:p>
        </p:txBody>
      </p:sp>
      <p:sp>
        <p:nvSpPr>
          <p:cNvPr id="33" name="TextBox 32"/>
          <p:cNvSpPr txBox="1"/>
          <p:nvPr/>
        </p:nvSpPr>
        <p:spPr>
          <a:xfrm>
            <a:off x="2185416" y="2029968"/>
            <a:ext cx="1536192" cy="914400"/>
          </a:xfrm>
          <a:prstGeom prst="rect">
            <a:avLst/>
          </a:prstGeom>
          <a:noFill/>
        </p:spPr>
        <p:txBody>
          <a:bodyPr wrap="square">
            <a:spAutoFit/>
          </a:bodyPr>
          <a:lstStyle/>
          <a:p>
            <a:pPr algn="ctr"/>
            <a:r>
              <a:rPr sz="785" b="0" i="0">
                <a:solidFill>
                  <a:srgbClr val="1D252C"/>
                </a:solidFill>
                <a:latin typeface="Arial"/>
              </a:rPr>
              <a:t>Nuestra energía aún depende en gran parte
de combustibles fósiles. Al salir de la
habitación, por favor apaga luces, aire
acondicionado, ventiladores y equipos
eléctricos. Un pequeño gesto reduce
emisiones y cuida las islas.</a:t>
            </a:r>
          </a:p>
        </p:txBody>
      </p:sp>
      <p:sp>
        <p:nvSpPr>
          <p:cNvPr id="34" name="Rectangle 33"/>
          <p:cNvSpPr/>
          <p:nvPr/>
        </p:nvSpPr>
        <p:spPr>
          <a:xfrm>
            <a:off x="2249424" y="3044952"/>
            <a:ext cx="475488" cy="7315"/>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82112" y="3044952"/>
            <a:ext cx="475488" cy="7315"/>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33396" y="3024836"/>
            <a:ext cx="40233" cy="40233"/>
          </a:xfrm>
          <a:prstGeom prst="ellipse">
            <a:avLst/>
          </a:prstGeom>
          <a:solidFill>
            <a:srgbClr val="9A65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139696" y="3090672"/>
            <a:ext cx="1627632" cy="146304"/>
          </a:xfrm>
          <a:prstGeom prst="rect">
            <a:avLst/>
          </a:prstGeom>
          <a:noFill/>
        </p:spPr>
        <p:txBody>
          <a:bodyPr wrap="square">
            <a:spAutoFit/>
          </a:bodyPr>
          <a:lstStyle/>
          <a:p>
            <a:pPr algn="ctr"/>
            <a:r>
              <a:rPr sz="1170" b="1" i="0">
                <a:solidFill>
                  <a:srgbClr val="9A651C"/>
                </a:solidFill>
                <a:latin typeface="Arial"/>
              </a:rPr>
              <a:t>ENERGY</a:t>
            </a:r>
          </a:p>
        </p:txBody>
      </p:sp>
      <p:sp>
        <p:nvSpPr>
          <p:cNvPr id="38" name="Rectangle 37"/>
          <p:cNvSpPr/>
          <p:nvPr/>
        </p:nvSpPr>
        <p:spPr>
          <a:xfrm>
            <a:off x="2395728" y="3218688"/>
            <a:ext cx="1115568" cy="7315"/>
          </a:xfrm>
          <a:prstGeom prst="rect">
            <a:avLst/>
          </a:prstGeom>
          <a:solidFill>
            <a:srgbClr val="9A65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157984" y="3264408"/>
            <a:ext cx="1591056" cy="128016"/>
          </a:xfrm>
          <a:prstGeom prst="rect">
            <a:avLst/>
          </a:prstGeom>
          <a:noFill/>
        </p:spPr>
        <p:txBody>
          <a:bodyPr wrap="square">
            <a:spAutoFit/>
          </a:bodyPr>
          <a:lstStyle/>
          <a:p>
            <a:pPr algn="ctr"/>
            <a:r>
              <a:rPr sz="830" b="1" i="0">
                <a:solidFill>
                  <a:srgbClr val="1D252C"/>
                </a:solidFill>
                <a:latin typeface="Arial"/>
              </a:rPr>
              <a:t>TURN OFF TO CONSERVE</a:t>
            </a:r>
          </a:p>
        </p:txBody>
      </p:sp>
      <p:sp>
        <p:nvSpPr>
          <p:cNvPr id="40" name="TextBox 39"/>
          <p:cNvSpPr txBox="1"/>
          <p:nvPr/>
        </p:nvSpPr>
        <p:spPr>
          <a:xfrm>
            <a:off x="2185416" y="3419856"/>
            <a:ext cx="1536192" cy="777240"/>
          </a:xfrm>
          <a:prstGeom prst="rect">
            <a:avLst/>
          </a:prstGeom>
          <a:noFill/>
        </p:spPr>
        <p:txBody>
          <a:bodyPr wrap="square">
            <a:spAutoFit/>
          </a:bodyPr>
          <a:lstStyle/>
          <a:p>
            <a:pPr algn="ctr"/>
            <a:r>
              <a:rPr sz="700" b="0" i="0">
                <a:solidFill>
                  <a:srgbClr val="1D252C"/>
                </a:solidFill>
                <a:latin typeface="Arial"/>
              </a:rPr>
              <a:t>Our energy still depends largely on fossil
fuels. When leaving the room, please turn
off lights, air conditioning, fans, and
electrical devices. A small action reduces
emissions and protects the islands.</a:t>
            </a:r>
          </a:p>
        </p:txBody>
      </p:sp>
      <p:sp>
        <p:nvSpPr>
          <p:cNvPr id="41" name="Rounded Rectangle 40"/>
          <p:cNvSpPr/>
          <p:nvPr/>
        </p:nvSpPr>
        <p:spPr>
          <a:xfrm>
            <a:off x="3931920" y="868680"/>
            <a:ext cx="1810512" cy="3749039"/>
          </a:xfrm>
          <a:prstGeom prst="roundRect">
            <a:avLst/>
          </a:prstGeom>
          <a:solidFill>
            <a:srgbClr val="FFFFFF"/>
          </a:solidFill>
          <a:ln w="10160">
            <a:solidFill>
              <a:srgbClr val="E4D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931920" y="868680"/>
            <a:ext cx="1810512" cy="749808"/>
          </a:xfrm>
          <a:prstGeom prst="roundRect">
            <a:avLst/>
          </a:prstGeom>
          <a:solidFill>
            <a:srgbClr val="285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931920" y="1527048"/>
            <a:ext cx="1810512" cy="109728"/>
          </a:xfrm>
          <a:prstGeom prst="rect">
            <a:avLst/>
          </a:prstGeom>
          <a:solidFill>
            <a:srgbClr val="285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553712" y="886968"/>
            <a:ext cx="566928" cy="566928"/>
          </a:xfrm>
          <a:prstGeom prst="ellipse">
            <a:avLst/>
          </a:prstGeom>
          <a:solidFill>
            <a:srgbClr val="FFFFFF"/>
          </a:solidFill>
          <a:ln w="12700">
            <a:solidFill>
              <a:srgbClr val="F0F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a_sign_is_a_circular_warning_sign_with_hyper_reali.png"/>
          <p:cNvPicPr>
            <a:picLocks noChangeAspect="1"/>
          </p:cNvPicPr>
          <p:nvPr/>
        </p:nvPicPr>
        <p:blipFill>
          <a:blip r:embed="rId4"/>
          <a:stretch>
            <a:fillRect/>
          </a:stretch>
        </p:blipFill>
        <p:spPr>
          <a:xfrm>
            <a:off x="4599432" y="932688"/>
            <a:ext cx="475488" cy="475488"/>
          </a:xfrm>
          <a:prstGeom prst="rect">
            <a:avLst/>
          </a:prstGeom>
        </p:spPr>
      </p:pic>
      <p:sp>
        <p:nvSpPr>
          <p:cNvPr id="46" name="TextBox 45"/>
          <p:cNvSpPr txBox="1"/>
          <p:nvPr/>
        </p:nvSpPr>
        <p:spPr>
          <a:xfrm>
            <a:off x="4023360" y="1645920"/>
            <a:ext cx="1627632" cy="146304"/>
          </a:xfrm>
          <a:prstGeom prst="rect">
            <a:avLst/>
          </a:prstGeom>
          <a:noFill/>
        </p:spPr>
        <p:txBody>
          <a:bodyPr wrap="square">
            <a:spAutoFit/>
          </a:bodyPr>
          <a:lstStyle/>
          <a:p>
            <a:pPr algn="ctr"/>
            <a:r>
              <a:rPr sz="1320" b="1" i="0">
                <a:solidFill>
                  <a:srgbClr val="285F33"/>
                </a:solidFill>
                <a:latin typeface="Arial"/>
              </a:rPr>
              <a:t>RESIDUOS</a:t>
            </a:r>
          </a:p>
        </p:txBody>
      </p:sp>
      <p:sp>
        <p:nvSpPr>
          <p:cNvPr id="47" name="Rectangle 46"/>
          <p:cNvSpPr/>
          <p:nvPr/>
        </p:nvSpPr>
        <p:spPr>
          <a:xfrm>
            <a:off x="4279392" y="1810512"/>
            <a:ext cx="1115568" cy="7315"/>
          </a:xfrm>
          <a:prstGeom prst="rect">
            <a:avLst/>
          </a:prstGeom>
          <a:solidFill>
            <a:srgbClr val="285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41648" y="1865376"/>
            <a:ext cx="1591056" cy="128016"/>
          </a:xfrm>
          <a:prstGeom prst="rect">
            <a:avLst/>
          </a:prstGeom>
          <a:noFill/>
        </p:spPr>
        <p:txBody>
          <a:bodyPr wrap="square">
            <a:spAutoFit/>
          </a:bodyPr>
          <a:lstStyle/>
          <a:p>
            <a:pPr algn="ctr"/>
            <a:r>
              <a:rPr sz="910" b="1" i="0">
                <a:solidFill>
                  <a:srgbClr val="1D252C"/>
                </a:solidFill>
                <a:latin typeface="Arial"/>
              </a:rPr>
              <a:t>SOLO USO SANITARIO</a:t>
            </a:r>
          </a:p>
        </p:txBody>
      </p:sp>
      <p:sp>
        <p:nvSpPr>
          <p:cNvPr id="49" name="TextBox 48"/>
          <p:cNvSpPr txBox="1"/>
          <p:nvPr/>
        </p:nvSpPr>
        <p:spPr>
          <a:xfrm>
            <a:off x="4069080" y="2029968"/>
            <a:ext cx="1536192" cy="914400"/>
          </a:xfrm>
          <a:prstGeom prst="rect">
            <a:avLst/>
          </a:prstGeom>
          <a:noFill/>
        </p:spPr>
        <p:txBody>
          <a:bodyPr wrap="square">
            <a:spAutoFit/>
          </a:bodyPr>
          <a:lstStyle/>
          <a:p>
            <a:pPr algn="ctr"/>
            <a:r>
              <a:rPr sz="785" b="0" i="0">
                <a:solidFill>
                  <a:srgbClr val="1D252C"/>
                </a:solidFill>
                <a:latin typeface="Arial"/>
              </a:rPr>
              <a:t>Por favor no arrojes papel higiénico,
pañitos húmedos, toallas sanitarias,
algodón ni otros residuos sólidos al
inodoro. Utiliza el tacho sanitario con tapa.
Así evitamos obstrucciones y protegemos
el sistema de aguas servidas.</a:t>
            </a:r>
          </a:p>
        </p:txBody>
      </p:sp>
      <p:sp>
        <p:nvSpPr>
          <p:cNvPr id="50" name="Rectangle 49"/>
          <p:cNvSpPr/>
          <p:nvPr/>
        </p:nvSpPr>
        <p:spPr>
          <a:xfrm>
            <a:off x="4133088" y="3044952"/>
            <a:ext cx="475488" cy="7315"/>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65776" y="3044952"/>
            <a:ext cx="475488" cy="7315"/>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817060" y="3024836"/>
            <a:ext cx="40233" cy="40233"/>
          </a:xfrm>
          <a:prstGeom prst="ellipse">
            <a:avLst/>
          </a:prstGeom>
          <a:solidFill>
            <a:srgbClr val="285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23360" y="3090672"/>
            <a:ext cx="1627632" cy="146304"/>
          </a:xfrm>
          <a:prstGeom prst="rect">
            <a:avLst/>
          </a:prstGeom>
          <a:noFill/>
        </p:spPr>
        <p:txBody>
          <a:bodyPr wrap="square">
            <a:spAutoFit/>
          </a:bodyPr>
          <a:lstStyle/>
          <a:p>
            <a:pPr algn="ctr"/>
            <a:r>
              <a:rPr sz="1170" b="1" i="0">
                <a:solidFill>
                  <a:srgbClr val="285F33"/>
                </a:solidFill>
                <a:latin typeface="Arial"/>
              </a:rPr>
              <a:t>WASTE</a:t>
            </a:r>
          </a:p>
        </p:txBody>
      </p:sp>
      <p:sp>
        <p:nvSpPr>
          <p:cNvPr id="54" name="Rectangle 53"/>
          <p:cNvSpPr/>
          <p:nvPr/>
        </p:nvSpPr>
        <p:spPr>
          <a:xfrm>
            <a:off x="4279392" y="3218688"/>
            <a:ext cx="1115568" cy="7315"/>
          </a:xfrm>
          <a:prstGeom prst="rect">
            <a:avLst/>
          </a:prstGeom>
          <a:solidFill>
            <a:srgbClr val="285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041648" y="3264408"/>
            <a:ext cx="1591056" cy="128016"/>
          </a:xfrm>
          <a:prstGeom prst="rect">
            <a:avLst/>
          </a:prstGeom>
          <a:noFill/>
        </p:spPr>
        <p:txBody>
          <a:bodyPr wrap="square">
            <a:spAutoFit/>
          </a:bodyPr>
          <a:lstStyle/>
          <a:p>
            <a:pPr algn="ctr"/>
            <a:r>
              <a:rPr sz="830" b="1" i="0">
                <a:solidFill>
                  <a:srgbClr val="1D252C"/>
                </a:solidFill>
                <a:latin typeface="Arial"/>
              </a:rPr>
              <a:t>TOILET USE ONLY</a:t>
            </a:r>
          </a:p>
        </p:txBody>
      </p:sp>
      <p:sp>
        <p:nvSpPr>
          <p:cNvPr id="56" name="TextBox 55"/>
          <p:cNvSpPr txBox="1"/>
          <p:nvPr/>
        </p:nvSpPr>
        <p:spPr>
          <a:xfrm>
            <a:off x="4069080" y="3419856"/>
            <a:ext cx="1536192" cy="777240"/>
          </a:xfrm>
          <a:prstGeom prst="rect">
            <a:avLst/>
          </a:prstGeom>
          <a:noFill/>
        </p:spPr>
        <p:txBody>
          <a:bodyPr wrap="square">
            <a:spAutoFit/>
          </a:bodyPr>
          <a:lstStyle/>
          <a:p>
            <a:pPr algn="ctr"/>
            <a:r>
              <a:rPr sz="700" b="0" i="0">
                <a:solidFill>
                  <a:srgbClr val="1D252C"/>
                </a:solidFill>
                <a:latin typeface="Arial"/>
              </a:rPr>
              <a:t>Please do not throw toilet paper, wipes,
sanitary napkins, cotton or other solid
waste into the toilet. Use the lidded
sanitary bin. This helps prevent blockages
and protects our sewage system.</a:t>
            </a:r>
          </a:p>
        </p:txBody>
      </p:sp>
      <p:sp>
        <p:nvSpPr>
          <p:cNvPr id="57" name="Rounded Rectangle 56"/>
          <p:cNvSpPr/>
          <p:nvPr/>
        </p:nvSpPr>
        <p:spPr>
          <a:xfrm>
            <a:off x="5815584" y="969264"/>
            <a:ext cx="1609344" cy="3657599"/>
          </a:xfrm>
          <a:prstGeom prst="roundRect">
            <a:avLst/>
          </a:prstGeom>
          <a:solidFill>
            <a:srgbClr val="F5F0E6"/>
          </a:solidFill>
          <a:ln w="10160">
            <a:solidFill>
              <a:srgbClr val="E6D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6473952" y="1024128"/>
            <a:ext cx="274320" cy="384048"/>
          </a:xfrm>
          <a:prstGeom prst="roundRect">
            <a:avLst/>
          </a:prstGeom>
          <a:solidFill>
            <a:srgbClr val="FFFFFF"/>
          </a:solidFill>
          <a:ln w="15240">
            <a:solidFill>
              <a:srgbClr val="1256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583680" y="1325880"/>
            <a:ext cx="36576" cy="36576"/>
          </a:xfrm>
          <a:prstGeom prst="ellipse">
            <a:avLst/>
          </a:prstGeom>
          <a:solidFill>
            <a:srgbClr val="125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888736" y="1472184"/>
            <a:ext cx="1463040" cy="146304"/>
          </a:xfrm>
          <a:prstGeom prst="rect">
            <a:avLst/>
          </a:prstGeom>
          <a:noFill/>
        </p:spPr>
        <p:txBody>
          <a:bodyPr wrap="square">
            <a:spAutoFit/>
          </a:bodyPr>
          <a:lstStyle/>
          <a:p>
            <a:pPr algn="ctr"/>
            <a:r>
              <a:rPr sz="1090" b="1" i="0">
                <a:solidFill>
                  <a:srgbClr val="125637"/>
                </a:solidFill>
                <a:latin typeface="Arial"/>
              </a:rPr>
              <a:t>ESCANEA PARA VER</a:t>
            </a:r>
          </a:p>
        </p:txBody>
      </p:sp>
      <p:sp>
        <p:nvSpPr>
          <p:cNvPr id="61" name="TextBox 60"/>
          <p:cNvSpPr txBox="1"/>
          <p:nvPr/>
        </p:nvSpPr>
        <p:spPr>
          <a:xfrm>
            <a:off x="5888736" y="1636776"/>
            <a:ext cx="1463040" cy="146304"/>
          </a:xfrm>
          <a:prstGeom prst="rect">
            <a:avLst/>
          </a:prstGeom>
          <a:noFill/>
        </p:spPr>
        <p:txBody>
          <a:bodyPr wrap="square">
            <a:spAutoFit/>
          </a:bodyPr>
          <a:lstStyle/>
          <a:p>
            <a:pPr algn="ctr"/>
            <a:r>
              <a:rPr sz="900" b="1" i="0">
                <a:solidFill>
                  <a:srgbClr val="125637"/>
                </a:solidFill>
                <a:latin typeface="Arial"/>
              </a:rPr>
              <a:t>LA GUÍA DEL HOSTAL</a:t>
            </a:r>
          </a:p>
        </p:txBody>
      </p:sp>
      <p:sp>
        <p:nvSpPr>
          <p:cNvPr id="62" name="Rounded Rectangle 61"/>
          <p:cNvSpPr/>
          <p:nvPr/>
        </p:nvSpPr>
        <p:spPr>
          <a:xfrm>
            <a:off x="5980176" y="2020824"/>
            <a:ext cx="1280160" cy="1444752"/>
          </a:xfrm>
          <a:prstGeom prst="roundRect">
            <a:avLst/>
          </a:prstGeom>
          <a:solidFill>
            <a:srgbClr val="FAF8F3"/>
          </a:solidFill>
          <a:ln w="12700">
            <a:solidFill>
              <a:srgbClr val="78787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16752" y="2514600"/>
            <a:ext cx="1207008" cy="457200"/>
          </a:xfrm>
          <a:prstGeom prst="rect">
            <a:avLst/>
          </a:prstGeom>
          <a:noFill/>
        </p:spPr>
        <p:txBody>
          <a:bodyPr wrap="square">
            <a:spAutoFit/>
          </a:bodyPr>
          <a:lstStyle/>
          <a:p>
            <a:pPr algn="ctr"/>
            <a:r>
              <a:rPr sz="1650" b="1" i="0">
                <a:solidFill>
                  <a:srgbClr val="7D7D7D"/>
                </a:solidFill>
                <a:latin typeface="Arial"/>
              </a:rPr>
              <a:t>TU CÓDIGO
QR AQUÍ</a:t>
            </a:r>
          </a:p>
        </p:txBody>
      </p:sp>
      <p:sp>
        <p:nvSpPr>
          <p:cNvPr id="64" name="TextBox 63"/>
          <p:cNvSpPr txBox="1"/>
          <p:nvPr/>
        </p:nvSpPr>
        <p:spPr>
          <a:xfrm>
            <a:off x="5888736" y="3611880"/>
            <a:ext cx="1463040" cy="146304"/>
          </a:xfrm>
          <a:prstGeom prst="rect">
            <a:avLst/>
          </a:prstGeom>
          <a:noFill/>
        </p:spPr>
        <p:txBody>
          <a:bodyPr wrap="square">
            <a:spAutoFit/>
          </a:bodyPr>
          <a:lstStyle/>
          <a:p>
            <a:pPr algn="ctr"/>
            <a:r>
              <a:rPr sz="1050" b="1" i="0">
                <a:solidFill>
                  <a:srgbClr val="125637"/>
                </a:solidFill>
                <a:latin typeface="Arial"/>
              </a:rPr>
              <a:t>SCAN TO VIEW</a:t>
            </a:r>
          </a:p>
        </p:txBody>
      </p:sp>
      <p:sp>
        <p:nvSpPr>
          <p:cNvPr id="65" name="TextBox 64"/>
          <p:cNvSpPr txBox="1"/>
          <p:nvPr/>
        </p:nvSpPr>
        <p:spPr>
          <a:xfrm>
            <a:off x="5888736" y="3776472"/>
            <a:ext cx="1463040" cy="146304"/>
          </a:xfrm>
          <a:prstGeom prst="rect">
            <a:avLst/>
          </a:prstGeom>
          <a:noFill/>
        </p:spPr>
        <p:txBody>
          <a:bodyPr wrap="square">
            <a:spAutoFit/>
          </a:bodyPr>
          <a:lstStyle/>
          <a:p>
            <a:pPr algn="ctr"/>
            <a:r>
              <a:rPr sz="880" b="1" i="0">
                <a:solidFill>
                  <a:srgbClr val="125637"/>
                </a:solidFill>
                <a:latin typeface="Arial"/>
              </a:rPr>
              <a:t>THE HOSTEL GUIDE</a:t>
            </a:r>
          </a:p>
        </p:txBody>
      </p:sp>
      <p:sp>
        <p:nvSpPr>
          <p:cNvPr id="66" name="TextBox 65"/>
          <p:cNvSpPr txBox="1"/>
          <p:nvPr/>
        </p:nvSpPr>
        <p:spPr>
          <a:xfrm>
            <a:off x="5961888" y="4087368"/>
            <a:ext cx="1316736" cy="274320"/>
          </a:xfrm>
          <a:prstGeom prst="rect">
            <a:avLst/>
          </a:prstGeom>
          <a:noFill/>
        </p:spPr>
        <p:txBody>
          <a:bodyPr wrap="square">
            <a:spAutoFit/>
          </a:bodyPr>
          <a:lstStyle/>
          <a:p>
            <a:pPr algn="ctr"/>
            <a:r>
              <a:rPr sz="800" b="0" i="1">
                <a:solidFill>
                  <a:srgbClr val="125637"/>
                </a:solidFill>
                <a:latin typeface="Arial"/>
              </a:rPr>
              <a:t>Gracias por ser parte
de la solución.
Thank you for being part of the solution.</a:t>
            </a:r>
          </a:p>
        </p:txBody>
      </p:sp>
      <p:pic>
        <p:nvPicPr>
          <p:cNvPr id="67" name="Picture 66" descr="MUYUYO.png"/>
          <p:cNvPicPr>
            <a:picLocks noChangeAspect="1"/>
          </p:cNvPicPr>
          <p:nvPr/>
        </p:nvPicPr>
        <p:blipFill>
          <a:blip r:embed="rId5"/>
          <a:stretch>
            <a:fillRect/>
          </a:stretch>
        </p:blipFill>
        <p:spPr>
          <a:xfrm>
            <a:off x="274320" y="4572000"/>
            <a:ext cx="1066902" cy="402336"/>
          </a:xfrm>
          <a:prstGeom prst="rect">
            <a:avLst/>
          </a:prstGeom>
        </p:spPr>
      </p:pic>
      <p:sp>
        <p:nvSpPr>
          <p:cNvPr id="68" name="Rectangle 67"/>
          <p:cNvSpPr/>
          <p:nvPr/>
        </p:nvSpPr>
        <p:spPr>
          <a:xfrm>
            <a:off x="1737360" y="4626864"/>
            <a:ext cx="9144" cy="237744"/>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901952" y="4572000"/>
            <a:ext cx="1554480" cy="274320"/>
          </a:xfrm>
          <a:prstGeom prst="rect">
            <a:avLst/>
          </a:prstGeom>
          <a:noFill/>
        </p:spPr>
        <p:txBody>
          <a:bodyPr wrap="square">
            <a:spAutoFit/>
          </a:bodyPr>
          <a:lstStyle/>
          <a:p>
            <a:pPr algn="l"/>
            <a:r>
              <a:rPr sz="740" b="0" i="0">
                <a:solidFill>
                  <a:srgbClr val="1D252C"/>
                </a:solidFill>
                <a:latin typeface="Arial"/>
              </a:rPr>
              <a:t>Cuidar hoy, preservar siempre.
Care today, preserve forever.</a:t>
            </a:r>
          </a:p>
        </p:txBody>
      </p:sp>
      <p:sp>
        <p:nvSpPr>
          <p:cNvPr id="70" name="Rectangle 69"/>
          <p:cNvSpPr/>
          <p:nvPr/>
        </p:nvSpPr>
        <p:spPr>
          <a:xfrm>
            <a:off x="3675887" y="4626864"/>
            <a:ext cx="9144" cy="237744"/>
          </a:xfrm>
          <a:prstGeom prst="rect">
            <a:avLst/>
          </a:prstGeom>
          <a:solidFill>
            <a:srgbClr val="CECA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822191" y="4553712"/>
            <a:ext cx="2331720" cy="310896"/>
          </a:xfrm>
          <a:prstGeom prst="rect">
            <a:avLst/>
          </a:prstGeom>
          <a:noFill/>
        </p:spPr>
        <p:txBody>
          <a:bodyPr wrap="square">
            <a:spAutoFit/>
          </a:bodyPr>
          <a:lstStyle/>
          <a:p>
            <a:pPr algn="l"/>
            <a:r>
              <a:rPr sz="700" b="0" i="0">
                <a:solidFill>
                  <a:srgbClr val="1D252C"/>
                </a:solidFill>
                <a:latin typeface="Arial"/>
              </a:rPr>
              <a:t>Galápagos es nuestro hogar, ayudemos a mantenerlo único.
Galápagos is our home, let’s help keep it unique.</a:t>
            </a:r>
          </a:p>
        </p:txBody>
      </p:sp>
      <p:sp>
        <p:nvSpPr>
          <p:cNvPr id="72" name="Wave 71"/>
          <p:cNvSpPr/>
          <p:nvPr/>
        </p:nvSpPr>
        <p:spPr>
          <a:xfrm>
            <a:off x="0" y="5029200"/>
            <a:ext cx="3749039" cy="301752"/>
          </a:xfrm>
          <a:prstGeom prst="wave">
            <a:avLst/>
          </a:prstGeom>
          <a:solidFill>
            <a:srgbClr val="5078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Wave 72"/>
          <p:cNvSpPr/>
          <p:nvPr/>
        </p:nvSpPr>
        <p:spPr>
          <a:xfrm>
            <a:off x="2651760" y="5029200"/>
            <a:ext cx="4910328" cy="301752"/>
          </a:xfrm>
          <a:prstGeom prst="wave">
            <a:avLst/>
          </a:prstGeom>
          <a:solidFill>
            <a:srgbClr val="215D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